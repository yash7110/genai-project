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0544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B2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95360" y="0"/>
            <a:ext cx="548640" cy="5143500"/>
          </a:xfrm>
          <a:prstGeom prst="rect">
            <a:avLst/>
          </a:prstGeom>
          <a:solidFill>
            <a:srgbClr val="00C6AE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760720" cy="5486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800" dirty="0">
                <a:solidFill>
                  <a:srgbClr val="00C6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 Language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Recognition System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EA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communication gap through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8EA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gesture understanding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794760"/>
            <a:ext cx="3108960" cy="822960"/>
          </a:xfrm>
          <a:prstGeom prst="rect">
            <a:avLst/>
          </a:prstGeom>
          <a:solidFill>
            <a:srgbClr val="162435"/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385876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Pratap Singh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8EA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2025–26  ·  GenAI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C6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206240" cy="1325880"/>
          </a:xfrm>
          <a:prstGeom prst="rect">
            <a:avLst/>
          </a:prstGeom>
          <a:solidFill>
            <a:srgbClr val="162435"/>
          </a:solidFill>
          <a:ln w="19050">
            <a:solidFill>
              <a:srgbClr val="00C6A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64008" cy="132588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184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6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Communication Barrier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8424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Communicating with sign language users is difficult without specialized training.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37760" y="1508760"/>
            <a:ext cx="4206240" cy="1325880"/>
          </a:xfrm>
          <a:prstGeom prst="rect">
            <a:avLst/>
          </a:prstGeom>
          <a:solidFill>
            <a:srgbClr val="162435"/>
          </a:solidFill>
          <a:ln w="19050">
            <a:solidFill>
              <a:srgbClr val="00C6A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37760" y="1508760"/>
            <a:ext cx="64008" cy="132588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20640" y="16184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6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Pixel-Heavy Models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198424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 rely on raw image pixels — slow to process and fail under poor lighting.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4206240" cy="1325880"/>
          </a:xfrm>
          <a:prstGeom prst="rect">
            <a:avLst/>
          </a:prstGeom>
          <a:solidFill>
            <a:srgbClr val="162435"/>
          </a:solidFill>
          <a:ln w="19050">
            <a:solidFill>
              <a:srgbClr val="00C6A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64008" cy="132588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1729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6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Environment Sensitivity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53872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rooms, busy wallpapers, or changing backgrounds break conventional vision models.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937760" y="3063240"/>
            <a:ext cx="4206240" cy="1325880"/>
          </a:xfrm>
          <a:prstGeom prst="rect">
            <a:avLst/>
          </a:prstGeom>
          <a:solidFill>
            <a:srgbClr val="162435"/>
          </a:solidFill>
          <a:ln w="19050">
            <a:solidFill>
              <a:srgbClr val="00C6A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937760" y="3063240"/>
            <a:ext cx="64008" cy="132588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20640" y="31729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6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Our Goal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353872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real-time system using webcam geometry — not pixels — that works in everyday conditions.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C6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&amp;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Pipeline — From Webcam to LSTM</a:t>
            </a:r>
            <a:endParaRPr lang="en-US" sz="2600" dirty="0"/>
          </a:p>
        </p:txBody>
      </p:sp>
      <p:pic>
        <p:nvPicPr>
          <p:cNvPr id="5" name="Image 0" descr="/home/claude/img1_pipelin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371600"/>
            <a:ext cx="4023360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0" y="1371600"/>
            <a:ext cx="4297680" cy="914400"/>
          </a:xfrm>
          <a:prstGeom prst="rect">
            <a:avLst/>
          </a:prstGeom>
          <a:solidFill>
            <a:srgbClr val="162435"/>
          </a:solidFill>
          <a:ln w="19050">
            <a:solidFill>
              <a:srgbClr val="00C6A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0" y="1371600"/>
            <a:ext cx="64008" cy="91440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709160" y="1481328"/>
            <a:ext cx="384048" cy="384048"/>
          </a:xfrm>
          <a:prstGeom prst="ellipse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70916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193792" y="1444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MediaPipe Tracking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93792" y="175564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21 hand landmarks per frame — ignores background, lighting &amp; skin color.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0" y="2377440"/>
            <a:ext cx="4297680" cy="914400"/>
          </a:xfrm>
          <a:prstGeom prst="rect">
            <a:avLst/>
          </a:prstGeom>
          <a:solidFill>
            <a:srgbClr val="162435"/>
          </a:solidFill>
          <a:ln w="19050">
            <a:solidFill>
              <a:srgbClr val="00C6A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72000" y="2377440"/>
            <a:ext cx="64008" cy="91440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09160" y="2487168"/>
            <a:ext cx="384048" cy="384048"/>
          </a:xfrm>
          <a:prstGeom prst="ellipse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70916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193792" y="24505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3D Coordinates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193792" y="276148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landmark provides x, y, z values → 21 × 3 = 63 numbers per frame.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0" y="3383280"/>
            <a:ext cx="4297680" cy="914400"/>
          </a:xfrm>
          <a:prstGeom prst="rect">
            <a:avLst/>
          </a:prstGeom>
          <a:solidFill>
            <a:srgbClr val="162435"/>
          </a:solidFill>
          <a:ln w="19050">
            <a:solidFill>
              <a:srgbClr val="00C6A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572000" y="3383280"/>
            <a:ext cx="64008" cy="91440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709160" y="3493008"/>
            <a:ext cx="384048" cy="384048"/>
          </a:xfrm>
          <a:prstGeom prst="ellipse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70916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193792" y="34564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30-Frame Buffer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193792" y="376732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numbers × 30 frames = shape (30, 63) fed into the LSTM network.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0" y="4462272"/>
            <a:ext cx="4297680" cy="457200"/>
          </a:xfrm>
          <a:prstGeom prst="rect">
            <a:avLst/>
          </a:prstGeom>
          <a:solidFill>
            <a:srgbClr val="00C6AE">
              <a:alpha val="15000"/>
            </a:srgbClr>
          </a:solidFill>
          <a:ln w="12700">
            <a:solidFill>
              <a:srgbClr val="00C6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663440" y="4480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Size:  5 MB  ·  vs  50–200 MB  (conventional image models)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C6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Bidirectional LSTM Neural Network</a:t>
            </a:r>
            <a:endParaRPr lang="en-US" sz="2600" dirty="0"/>
          </a:p>
        </p:txBody>
      </p:sp>
      <p:pic>
        <p:nvPicPr>
          <p:cNvPr id="5" name="Image 0" descr="/home/claude/img2_mode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325880"/>
            <a:ext cx="329184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794760" y="1353312"/>
            <a:ext cx="5074920" cy="749808"/>
          </a:xfrm>
          <a:prstGeom prst="rect">
            <a:avLst/>
          </a:prstGeom>
          <a:solidFill>
            <a:srgbClr val="162435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794760" y="1353312"/>
            <a:ext cx="64008" cy="7498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950208" y="13990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950208" y="159105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BiLSTM — 128 units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950208" y="182880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gesture forward + backward → 256 values per frame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794760" y="2231136"/>
            <a:ext cx="5074920" cy="749808"/>
          </a:xfrm>
          <a:prstGeom prst="rect">
            <a:avLst/>
          </a:prstGeom>
          <a:solidFill>
            <a:srgbClr val="162435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794760" y="2231136"/>
            <a:ext cx="64008" cy="7498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950208" y="22768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2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950208" y="246888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BiLSTM — 64 units + Attention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950208" y="270662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Refines motion patterns → 128 values per frame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794760" y="3108960"/>
            <a:ext cx="5074920" cy="749808"/>
          </a:xfrm>
          <a:prstGeom prst="rect">
            <a:avLst/>
          </a:prstGeom>
          <a:solidFill>
            <a:srgbClr val="162435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794760" y="3108960"/>
            <a:ext cx="64008" cy="7498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950208" y="31546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3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950208" y="334670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 — 64 units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950208" y="358444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30 frames → single 64-value vector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794760" y="3986784"/>
            <a:ext cx="5074920" cy="749808"/>
          </a:xfrm>
          <a:prstGeom prst="rect">
            <a:avLst/>
          </a:prstGeom>
          <a:solidFill>
            <a:srgbClr val="162435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794760" y="3986784"/>
            <a:ext cx="64008" cy="74980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950208" y="40325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Dense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950208" y="422452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128 → 64 → Softmax (10)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950208" y="446227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activation + final classification across 10 ASL signs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794760" y="4873752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EA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 + Dropout (0.3) applied between all layers for regularization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C6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&amp; PREPROCESSING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Dataset — Built from Scratch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1965960" cy="1143000"/>
          </a:xfrm>
          <a:prstGeom prst="rect">
            <a:avLst/>
          </a:prstGeom>
          <a:solidFill>
            <a:srgbClr val="162435"/>
          </a:solidFill>
          <a:ln w="19050">
            <a:solidFill>
              <a:srgbClr val="00C6A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5361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6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21214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Signs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463040"/>
            <a:ext cx="1965960" cy="1143000"/>
          </a:xfrm>
          <a:prstGeom prst="rect">
            <a:avLst/>
          </a:prstGeom>
          <a:solidFill>
            <a:srgbClr val="162435"/>
          </a:solidFill>
          <a:ln w="19050">
            <a:solidFill>
              <a:srgbClr val="00C6A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06040" y="15361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6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06040" y="21214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Each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463040"/>
            <a:ext cx="1965960" cy="1143000"/>
          </a:xfrm>
          <a:prstGeom prst="rect">
            <a:avLst/>
          </a:prstGeom>
          <a:solidFill>
            <a:srgbClr val="162435"/>
          </a:solidFill>
          <a:ln w="19050">
            <a:solidFill>
              <a:srgbClr val="00C6A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15361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6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~1s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800600" y="21214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Clip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95160" y="1463040"/>
            <a:ext cx="1965960" cy="1143000"/>
          </a:xfrm>
          <a:prstGeom prst="rect">
            <a:avLst/>
          </a:prstGeom>
          <a:solidFill>
            <a:srgbClr val="162435"/>
          </a:solidFill>
          <a:ln w="19050">
            <a:solidFill>
              <a:srgbClr val="00C6A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95160" y="15361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6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80/20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995160" y="21214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788920"/>
            <a:ext cx="8366760" cy="475488"/>
          </a:xfrm>
          <a:prstGeom prst="rect">
            <a:avLst/>
          </a:prstGeom>
          <a:solidFill>
            <a:srgbClr val="1B2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834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Trained:   hello  ·  thanks  ·  yes  ·  no  ·  stop  ·  peace  ·  ok  ·  fist  ·  call  ·  point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401568"/>
            <a:ext cx="2651760" cy="1463040"/>
          </a:xfrm>
          <a:prstGeom prst="rect">
            <a:avLst/>
          </a:prstGeom>
          <a:solidFill>
            <a:srgbClr val="162435"/>
          </a:solidFill>
          <a:ln w="19050">
            <a:solidFill>
              <a:srgbClr val="00C6A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3401568"/>
            <a:ext cx="64008" cy="146304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6072" y="34930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⚖️ StandardScaler Normalization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" y="390448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adjusted to zero mean and unit variance. Position-invariant — works whether close or far from the lens.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46120" y="3401568"/>
            <a:ext cx="2651760" cy="1463040"/>
          </a:xfrm>
          <a:prstGeom prst="rect">
            <a:avLst/>
          </a:prstGeom>
          <a:solidFill>
            <a:srgbClr val="162435"/>
          </a:solidFill>
          <a:ln w="19050">
            <a:solidFill>
              <a:srgbClr val="00C6A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46120" y="3401568"/>
            <a:ext cx="64008" cy="146304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10712" y="34930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🔀 Data Augmentation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10712" y="390448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noise injected into training sequences to prevent memorization and improve real-world generalization.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80760" y="3401568"/>
            <a:ext cx="2651760" cy="1463040"/>
          </a:xfrm>
          <a:prstGeom prst="rect">
            <a:avLst/>
          </a:prstGeom>
          <a:solidFill>
            <a:srgbClr val="162435"/>
          </a:solidFill>
          <a:ln w="19050">
            <a:solidFill>
              <a:srgbClr val="00C6A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080760" y="3401568"/>
            <a:ext cx="64008" cy="146304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45352" y="34930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💾 Saved Scaler File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45352" y="390448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persisted to disk ensuring live webcam data is transformed identically to training data at inference time.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C6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APPLICATION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Demo Interface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069080" cy="2423160"/>
          </a:xfrm>
          <a:prstGeom prst="rect">
            <a:avLst/>
          </a:prstGeom>
          <a:solidFill>
            <a:srgbClr val="162435"/>
          </a:solidFill>
          <a:ln w="19050">
            <a:solidFill>
              <a:srgbClr val="00C6A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mg4_hell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371600"/>
            <a:ext cx="4069080" cy="2423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384048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"HELLO" at 100%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54880" y="1371600"/>
            <a:ext cx="4069080" cy="2423160"/>
          </a:xfrm>
          <a:prstGeom prst="rect">
            <a:avLst/>
          </a:prstGeom>
          <a:solidFill>
            <a:srgbClr val="162435"/>
          </a:solidFill>
          <a:ln w="19050">
            <a:solidFill>
              <a:srgbClr val="00C6A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img3_peac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1371600"/>
            <a:ext cx="4069080" cy="24231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00600" y="384048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"PEACE" at 100%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74320" y="4206240"/>
            <a:ext cx="2788920" cy="685800"/>
          </a:xfrm>
          <a:prstGeom prst="rect">
            <a:avLst/>
          </a:prstGeom>
          <a:solidFill>
            <a:srgbClr val="1B2D45"/>
          </a:solidFill>
          <a:ln w="12700">
            <a:solidFill>
              <a:srgbClr val="0FA8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11480" y="4251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Attention Heatmap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11480" y="45171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bar highlighting which frames the model weighted most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246120" y="4206240"/>
            <a:ext cx="2788920" cy="685800"/>
          </a:xfrm>
          <a:prstGeom prst="rect">
            <a:avLst/>
          </a:prstGeom>
          <a:solidFill>
            <a:srgbClr val="1B2D45"/>
          </a:solidFill>
          <a:ln w="12700">
            <a:solidFill>
              <a:srgbClr val="0FA8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3383280" y="4251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Skeleton Mirror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383280" y="45171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hand landmarks rendered as dots + lines (geometry-only view)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217920" y="4206240"/>
            <a:ext cx="2788920" cy="685800"/>
          </a:xfrm>
          <a:prstGeom prst="rect">
            <a:avLst/>
          </a:prstGeom>
          <a:solidFill>
            <a:srgbClr val="1B2D45"/>
          </a:solidFill>
          <a:ln w="12700">
            <a:solidFill>
              <a:srgbClr val="0FA8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355080" y="4251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 Meter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355080" y="45171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→ green bar giving instant signer feedback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C6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Accuracy, Challenges &amp; Solutions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606040" cy="2011680"/>
          </a:xfrm>
          <a:prstGeom prst="rect">
            <a:avLst/>
          </a:prstGeom>
          <a:solidFill>
            <a:srgbClr val="162435"/>
          </a:solidFill>
          <a:ln w="25400">
            <a:solidFill>
              <a:srgbClr val="F4C43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4C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95%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11480" y="25603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EA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8346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EA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held-out data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3547872"/>
            <a:ext cx="2606040" cy="1280160"/>
          </a:xfrm>
          <a:prstGeom prst="rect">
            <a:avLst/>
          </a:prstGeom>
          <a:solidFill>
            <a:srgbClr val="2D1F0A"/>
          </a:solidFill>
          <a:ln w="12700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611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C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Known Confusion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95020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"hello" vs "thanks" — both use an open palm near the face, making them visually similar for the model.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5577840" cy="1325880"/>
          </a:xfrm>
          <a:prstGeom prst="rect">
            <a:avLst/>
          </a:prstGeom>
          <a:solidFill>
            <a:srgbClr val="162435"/>
          </a:solidFill>
          <a:ln w="19050">
            <a:solidFill>
              <a:srgbClr val="00C6A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91840" y="1417320"/>
            <a:ext cx="64008" cy="132588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20440" y="15270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Problem: Video Freeze on Speech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18745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Fix: Moved text-to-speech to a separate background thread — video loop now runs uninterrupted.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2926080"/>
            <a:ext cx="5577840" cy="1325880"/>
          </a:xfrm>
          <a:prstGeom prst="rect">
            <a:avLst/>
          </a:prstGeom>
          <a:solidFill>
            <a:srgbClr val="162435"/>
          </a:solidFill>
          <a:ln w="19050">
            <a:solidFill>
              <a:srgbClr val="00C6A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91840" y="2926080"/>
            <a:ext cx="64008" cy="132588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520440" y="30358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Problem: Wrong Coordinate Scale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20440" y="33832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Fix: Forgot to apply scaler to live input. Loading saved scaler from training phase fixed inference.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4462272"/>
            <a:ext cx="5577840" cy="457200"/>
          </a:xfrm>
          <a:prstGeom prst="rect">
            <a:avLst/>
          </a:prstGeom>
          <a:solidFill>
            <a:srgbClr val="1B2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29000" y="45262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EA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 set at 75% — prediction only displayed when model is sufficiently certain.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C6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&amp; Future Development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4206240" cy="1508760"/>
          </a:xfrm>
          <a:prstGeom prst="rect">
            <a:avLst/>
          </a:prstGeom>
          <a:solidFill>
            <a:srgbClr val="162435"/>
          </a:solidFill>
          <a:ln w="19050">
            <a:solidFill>
              <a:srgbClr val="00C6A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64008" cy="150876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86200" y="1618488"/>
            <a:ext cx="594360" cy="256032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86200" y="161848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v2.0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163677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Two-Hand Tracking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03911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both hands simultaneously to recognize complex signs like 'family' or 'work'.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92040" y="1508760"/>
            <a:ext cx="4206240" cy="1508760"/>
          </a:xfrm>
          <a:prstGeom prst="rect">
            <a:avLst/>
          </a:prstGeom>
          <a:solidFill>
            <a:srgbClr val="162435"/>
          </a:solidFill>
          <a:ln w="19050">
            <a:solidFill>
              <a:srgbClr val="00C6A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92040" y="1508760"/>
            <a:ext cx="64008" cy="150876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366760" y="1618488"/>
            <a:ext cx="594360" cy="256032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66760" y="161848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v2.1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74920" y="163677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Mobile Offline App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74920" y="203911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only 5 MB the model is lightweight enough to run fully offline on Android/iOS.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200400"/>
            <a:ext cx="4206240" cy="1508760"/>
          </a:xfrm>
          <a:prstGeom prst="rect">
            <a:avLst/>
          </a:prstGeom>
          <a:solidFill>
            <a:srgbClr val="162435"/>
          </a:solidFill>
          <a:ln w="19050">
            <a:solidFill>
              <a:srgbClr val="00C6A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3200400"/>
            <a:ext cx="64008" cy="150876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886200" y="3310128"/>
            <a:ext cx="594360" cy="256032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86200" y="33101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v3.0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94360" y="332841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Expanded Vocabulary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373075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common phrases and everyday vocabulary beyond the current 10 ASL signs.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3200400"/>
            <a:ext cx="4206240" cy="1508760"/>
          </a:xfrm>
          <a:prstGeom prst="rect">
            <a:avLst/>
          </a:prstGeom>
          <a:solidFill>
            <a:srgbClr val="162435"/>
          </a:solidFill>
          <a:ln w="19050">
            <a:solidFill>
              <a:srgbClr val="00C6A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92040" y="3200400"/>
            <a:ext cx="64008" cy="150876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366760" y="3310128"/>
            <a:ext cx="594360" cy="256032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366760" y="33101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v3.1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74920" y="332841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Accessibility Collaboration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74920" y="373075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accessibility developers to learn best practices for two-hand sign recognition.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B2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95360" y="0"/>
            <a:ext cx="548640" cy="5143500"/>
          </a:xfrm>
          <a:prstGeom prst="rect">
            <a:avLst/>
          </a:prstGeom>
          <a:solidFill>
            <a:srgbClr val="00C6AE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2560320"/>
            <a:ext cx="5760720" cy="5486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C6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5760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Fast, Fair &amp;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Lightweight System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Geometry over pixels — works across skin tones, lighting &amp; backgrounds
</a:t>
            </a:r>
            <a:r>
              <a:rPr lang="en-US" sz="12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5 MB model runs real-time on consumer hardware — no GPU needed
→  95% accuracy on 10 ASL signs with LSTM attention mechanism
→  Transparent interface — attention heatmap + skeleton mirror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2084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6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Yash Pratap Singh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20840" y="2148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2025–26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EA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</a:t>
            </a:r>
            <a:endParaRPr lang="en-US" sz="1100" dirty="0"/>
          </a:p>
        </p:txBody>
      </p:sp>
      <p:pic>
        <p:nvPicPr>
          <p:cNvPr id="10" name="Image 0" descr="/home/claude/img4_hell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20840" y="2880360"/>
            <a:ext cx="2148840" cy="1965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691</Words>
  <Application>Microsoft Macintosh PowerPoint</Application>
  <PresentationFormat>On-screen Show (16:9)</PresentationFormat>
  <Paragraphs>113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Sign Language Recognition System</dc:title>
  <dc:subject>PptxGenJS Presentation</dc:subject>
  <dc:creator>Yash Pratap Singh</dc:creator>
  <cp:lastModifiedBy>YASH PRATAP  SINGH</cp:lastModifiedBy>
  <cp:revision>2</cp:revision>
  <dcterms:created xsi:type="dcterms:W3CDTF">2026-04-20T10:04:08Z</dcterms:created>
  <dcterms:modified xsi:type="dcterms:W3CDTF">2026-04-20T10:19:44Z</dcterms:modified>
</cp:coreProperties>
</file>